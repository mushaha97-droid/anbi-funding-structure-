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income (€M)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3A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Stichting Lente Land</c:v>
                  </c:pt>
                  <c:pt idx="1">
                    <c:v>Foundation reNature</c:v>
                  </c:pt>
                  <c:pt idx="2">
                    <c:v>Standaard Publicatieplicht Fondsen</c:v>
                  </c:pt>
                  <c:pt idx="3">
                    <c:v>Stichting Voedselbosbouw Nederland</c:v>
                  </c:pt>
                  <c:pt idx="4">
                    <c:v>Stichting BD Grondbeheer</c:v>
                  </c:pt>
                  <c:pt idx="5">
                    <c:v>Cooperatie Land van Ons</c:v>
                  </c:pt>
                  <c:pt idx="6">
                    <c:v>Stichting Herenboeren Nederland</c:v>
                  </c:pt>
                  <c:pt idx="7">
                    <c:v>Regenerative Organic Alliance</c:v>
                  </c:pt>
                  <c:pt idx="8">
                    <c:v>Urgenda</c:v>
                  </c:pt>
                  <c:pt idx="9">
                    <c:v>Natuurmonumenten</c:v>
                  </c:pt>
                  <c:pt idx="10">
                    <c:v>Commonland</c:v>
                  </c:pt>
                  <c:pt idx="11">
                    <c:v>Trees for All</c:v>
                  </c:pt>
                  <c:pt idx="12">
                    <c:v>Justdiggit Foundation</c:v>
                  </c:pt>
                  <c:pt idx="13">
                    <c:v>Soil Association Group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0.3</c:v>
                </c:pt>
                <c:pt idx="1">
                  <c:v>0.43</c:v>
                </c:pt>
                <c:pt idx="2">
                  <c:v>0.48</c:v>
                </c:pt>
                <c:pt idx="3">
                  <c:v>0.67</c:v>
                </c:pt>
                <c:pt idx="4">
                  <c:v>1.15</c:v>
                </c:pt>
                <c:pt idx="5">
                  <c:v>1.48</c:v>
                </c:pt>
                <c:pt idx="6">
                  <c:v>1.53</c:v>
                </c:pt>
                <c:pt idx="7">
                  <c:v>1.54</c:v>
                </c:pt>
                <c:pt idx="8">
                  <c:v>3.25</c:v>
                </c:pt>
                <c:pt idx="9">
                  <c:v>8.33</c:v>
                </c:pt>
                <c:pt idx="10">
                  <c:v>9.52</c:v>
                </c:pt>
                <c:pt idx="11">
                  <c:v>10.15</c:v>
                </c:pt>
                <c:pt idx="12">
                  <c:v>14.04</c:v>
                </c:pt>
                <c:pt idx="13">
                  <c:v>24.73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900" u="none">
                  <a:solidFill>
                    <a:srgbClr val="1B3A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3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Pooled income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E76F51"/>
              </a:solidFill>
              <a:effectLst/>
            </c:spPr>
          </c:dPt>
          <c:dPt>
            <c:idx val="2"/>
            <c:bubble3D val="0"/>
            <c:spPr>
              <a:solidFill>
                <a:srgbClr val="E9C46A"/>
              </a:solidFill>
              <a:effectLst/>
            </c:spPr>
          </c:dPt>
          <c:dPt>
            <c:idx val="3"/>
            <c:bubble3D val="0"/>
            <c:spPr>
              <a:solidFill>
                <a:srgbClr val="97BC62"/>
              </a:solidFill>
              <a:effectLst/>
            </c:spPr>
          </c:dPt>
          <c:dPt>
            <c:idx val="4"/>
            <c:bubble3D val="0"/>
            <c:spPr>
              <a:solidFill>
                <a:srgbClr val="8E7DB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Business</c:v>
                </c:pt>
                <c:pt idx="1">
                  <c:v>Donation</c:v>
                </c:pt>
                <c:pt idx="2">
                  <c:v>Government</c:v>
                </c:pt>
                <c:pt idx="3">
                  <c:v>Community engagement</c:v>
                </c:pt>
                <c:pt idx="4">
                  <c:v>Capital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54.5</c:v>
                </c:pt>
                <c:pt idx="1">
                  <c:v>8.5</c:v>
                </c:pt>
                <c:pt idx="2">
                  <c:v>8.5</c:v>
                </c:pt>
                <c:pt idx="3">
                  <c:v>4.9</c:v>
                </c:pt>
                <c:pt idx="4">
                  <c:v>1.2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3A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Donation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Soil Association</c:v>
                  </c:pt>
                  <c:pt idx="1">
                    <c:v>Justdiggit</c:v>
                  </c:pt>
                  <c:pt idx="2">
                    <c:v>Trees for All</c:v>
                  </c:pt>
                  <c:pt idx="3">
                    <c:v>Commonland</c:v>
                  </c:pt>
                  <c:pt idx="4">
                    <c:v>Natuurmonumenten</c:v>
                  </c:pt>
                  <c:pt idx="5">
                    <c:v>Urgenda</c:v>
                  </c:pt>
                  <c:pt idx="6">
                    <c:v>ROA</c:v>
                  </c:pt>
                  <c:pt idx="7">
                    <c:v>Herenboeren</c:v>
                  </c:pt>
                  <c:pt idx="8">
                    <c:v>Land van Ons</c:v>
                  </c:pt>
                  <c:pt idx="9">
                    <c:v>BD Grondbeheer</c:v>
                  </c:pt>
                  <c:pt idx="10">
                    <c:v>Voedselbosbouw NL</c:v>
                  </c:pt>
                  <c:pt idx="11">
                    <c:v>Standaard Publ.</c:v>
                  </c:pt>
                  <c:pt idx="12">
                    <c:v>reNature</c:v>
                  </c:pt>
                  <c:pt idx="13">
                    <c:v>Lente Land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9.1</c:v>
                </c:pt>
                <c:pt idx="1">
                  <c:v>13.6</c:v>
                </c:pt>
                <c:pt idx="2">
                  <c:v>15</c:v>
                </c:pt>
                <c:pt idx="3">
                  <c:v>0</c:v>
                </c:pt>
                <c:pt idx="4">
                  <c:v>8.3</c:v>
                </c:pt>
                <c:pt idx="5">
                  <c:v>39.2</c:v>
                </c:pt>
                <c:pt idx="6">
                  <c:v>9.6</c:v>
                </c:pt>
                <c:pt idx="7">
                  <c:v>3.6</c:v>
                </c:pt>
                <c:pt idx="8">
                  <c:v>20.4</c:v>
                </c:pt>
                <c:pt idx="9">
                  <c:v>29.7</c:v>
                </c:pt>
                <c:pt idx="10">
                  <c:v>1.7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Soil Association</c:v>
                  </c:pt>
                  <c:pt idx="1">
                    <c:v>Justdiggit</c:v>
                  </c:pt>
                  <c:pt idx="2">
                    <c:v>Trees for All</c:v>
                  </c:pt>
                  <c:pt idx="3">
                    <c:v>Commonland</c:v>
                  </c:pt>
                  <c:pt idx="4">
                    <c:v>Natuurmonumenten</c:v>
                  </c:pt>
                  <c:pt idx="5">
                    <c:v>Urgenda</c:v>
                  </c:pt>
                  <c:pt idx="6">
                    <c:v>ROA</c:v>
                  </c:pt>
                  <c:pt idx="7">
                    <c:v>Herenboeren</c:v>
                  </c:pt>
                  <c:pt idx="8">
                    <c:v>Land van Ons</c:v>
                  </c:pt>
                  <c:pt idx="9">
                    <c:v>BD Grondbeheer</c:v>
                  </c:pt>
                  <c:pt idx="10">
                    <c:v>Voedselbosbouw NL</c:v>
                  </c:pt>
                  <c:pt idx="11">
                    <c:v>Standaard Publ.</c:v>
                  </c:pt>
                  <c:pt idx="12">
                    <c:v>reNature</c:v>
                  </c:pt>
                  <c:pt idx="13">
                    <c:v>Lente Land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87.1</c:v>
                </c:pt>
                <c:pt idx="1">
                  <c:v>79.3</c:v>
                </c:pt>
                <c:pt idx="2">
                  <c:v>81</c:v>
                </c:pt>
                <c:pt idx="3">
                  <c:v>87.9</c:v>
                </c:pt>
                <c:pt idx="4">
                  <c:v>40.1</c:v>
                </c:pt>
                <c:pt idx="5">
                  <c:v>19.7</c:v>
                </c:pt>
                <c:pt idx="6">
                  <c:v>30.1</c:v>
                </c:pt>
                <c:pt idx="7">
                  <c:v>19.6</c:v>
                </c:pt>
                <c:pt idx="8">
                  <c:v>0</c:v>
                </c:pt>
                <c:pt idx="9">
                  <c:v>10</c:v>
                </c:pt>
                <c:pt idx="10">
                  <c:v>58.4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Community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Soil Association</c:v>
                  </c:pt>
                  <c:pt idx="1">
                    <c:v>Justdiggit</c:v>
                  </c:pt>
                  <c:pt idx="2">
                    <c:v>Trees for All</c:v>
                  </c:pt>
                  <c:pt idx="3">
                    <c:v>Commonland</c:v>
                  </c:pt>
                  <c:pt idx="4">
                    <c:v>Natuurmonumenten</c:v>
                  </c:pt>
                  <c:pt idx="5">
                    <c:v>Urgenda</c:v>
                  </c:pt>
                  <c:pt idx="6">
                    <c:v>ROA</c:v>
                  </c:pt>
                  <c:pt idx="7">
                    <c:v>Herenboeren</c:v>
                  </c:pt>
                  <c:pt idx="8">
                    <c:v>Land van Ons</c:v>
                  </c:pt>
                  <c:pt idx="9">
                    <c:v>BD Grondbeheer</c:v>
                  </c:pt>
                  <c:pt idx="10">
                    <c:v>Voedselbosbouw NL</c:v>
                  </c:pt>
                  <c:pt idx="11">
                    <c:v>Standaard Publ.</c:v>
                  </c:pt>
                  <c:pt idx="12">
                    <c:v>reNature</c:v>
                  </c:pt>
                  <c:pt idx="13">
                    <c:v>Lente Land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3.6</c:v>
                </c:pt>
                <c:pt idx="1">
                  <c:v>2.7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15.4</c:v>
                </c:pt>
                <c:pt idx="6">
                  <c:v>42.4</c:v>
                </c:pt>
                <c:pt idx="7">
                  <c:v>49.6</c:v>
                </c:pt>
                <c:pt idx="8">
                  <c:v>19.6</c:v>
                </c:pt>
                <c:pt idx="9">
                  <c:v>45.6</c:v>
                </c:pt>
                <c:pt idx="10">
                  <c:v>3</c:v>
                </c:pt>
                <c:pt idx="11">
                  <c:v>23.8</c:v>
                </c:pt>
                <c:pt idx="12">
                  <c:v>99.4</c:v>
                </c:pt>
                <c:pt idx="13">
                  <c:v>95.5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Government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Soil Association</c:v>
                  </c:pt>
                  <c:pt idx="1">
                    <c:v>Justdiggit</c:v>
                  </c:pt>
                  <c:pt idx="2">
                    <c:v>Trees for All</c:v>
                  </c:pt>
                  <c:pt idx="3">
                    <c:v>Commonland</c:v>
                  </c:pt>
                  <c:pt idx="4">
                    <c:v>Natuurmonumenten</c:v>
                  </c:pt>
                  <c:pt idx="5">
                    <c:v>Urgenda</c:v>
                  </c:pt>
                  <c:pt idx="6">
                    <c:v>ROA</c:v>
                  </c:pt>
                  <c:pt idx="7">
                    <c:v>Herenboeren</c:v>
                  </c:pt>
                  <c:pt idx="8">
                    <c:v>Land van Ons</c:v>
                  </c:pt>
                  <c:pt idx="9">
                    <c:v>BD Grondbeheer</c:v>
                  </c:pt>
                  <c:pt idx="10">
                    <c:v>Voedselbosbouw NL</c:v>
                  </c:pt>
                  <c:pt idx="11">
                    <c:v>Standaard Publ.</c:v>
                  </c:pt>
                  <c:pt idx="12">
                    <c:v>reNature</c:v>
                  </c:pt>
                  <c:pt idx="13">
                    <c:v>Lente Land</c:v>
                  </c:pt>
                </c:lvl>
              </c:multiLvlStrCache>
            </c:multiLvl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0</c:v>
                </c:pt>
                <c:pt idx="1">
                  <c:v>4.3</c:v>
                </c:pt>
                <c:pt idx="2">
                  <c:v>3.9</c:v>
                </c:pt>
                <c:pt idx="3">
                  <c:v>11.9</c:v>
                </c:pt>
                <c:pt idx="4">
                  <c:v>51.6</c:v>
                </c:pt>
                <c:pt idx="5">
                  <c:v>25.7</c:v>
                </c:pt>
                <c:pt idx="6">
                  <c:v>17.9</c:v>
                </c:pt>
                <c:pt idx="7">
                  <c:v>27.2</c:v>
                </c:pt>
                <c:pt idx="8">
                  <c:v>14.3</c:v>
                </c:pt>
                <c:pt idx="9">
                  <c:v>0.8</c:v>
                </c:pt>
                <c:pt idx="10">
                  <c:v>36.9</c:v>
                </c:pt>
                <c:pt idx="11">
                  <c:v>15.8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Capital</c:v>
                </c:pt>
              </c:strCache>
            </c:strRef>
          </c:tx>
          <c:spPr>
            <a:solidFill>
              <a:srgbClr val="8E7D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Soil Association</c:v>
                  </c:pt>
                  <c:pt idx="1">
                    <c:v>Justdiggit</c:v>
                  </c:pt>
                  <c:pt idx="2">
                    <c:v>Trees for All</c:v>
                  </c:pt>
                  <c:pt idx="3">
                    <c:v>Commonland</c:v>
                  </c:pt>
                  <c:pt idx="4">
                    <c:v>Natuurmonumenten</c:v>
                  </c:pt>
                  <c:pt idx="5">
                    <c:v>Urgenda</c:v>
                  </c:pt>
                  <c:pt idx="6">
                    <c:v>ROA</c:v>
                  </c:pt>
                  <c:pt idx="7">
                    <c:v>Herenboeren</c:v>
                  </c:pt>
                  <c:pt idx="8">
                    <c:v>Land van Ons</c:v>
                  </c:pt>
                  <c:pt idx="9">
                    <c:v>BD Grondbeheer</c:v>
                  </c:pt>
                  <c:pt idx="10">
                    <c:v>Voedselbosbouw NL</c:v>
                  </c:pt>
                  <c:pt idx="11">
                    <c:v>Standaard Publ.</c:v>
                  </c:pt>
                  <c:pt idx="12">
                    <c:v>reNature</c:v>
                  </c:pt>
                  <c:pt idx="13">
                    <c:v>Lente Land</c:v>
                  </c:pt>
                </c:lvl>
              </c:multiLvlStrCache>
            </c:multiLvl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0.1</c:v>
                </c:pt>
                <c:pt idx="1">
                  <c:v>0</c:v>
                </c:pt>
                <c:pt idx="2">
                  <c:v>0</c:v>
                </c:pt>
                <c:pt idx="3">
                  <c:v>0.1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45.7</c:v>
                </c:pt>
                <c:pt idx="9">
                  <c:v>13.9</c:v>
                </c:pt>
                <c:pt idx="10">
                  <c:v>0</c:v>
                </c:pt>
                <c:pt idx="11">
                  <c:v>60.4</c:v>
                </c:pt>
                <c:pt idx="12">
                  <c:v>0.6</c:v>
                </c:pt>
                <c:pt idx="13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3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3A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Donation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(&lt;€1M)</c:v>
                  </c:pt>
                  <c:pt idx="1">
                    <c:v>Mid (€1M–€5M)</c:v>
                  </c:pt>
                  <c:pt idx="2">
                    <c:v>Large (&gt;€5M)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23.7</c:v>
                </c:pt>
                <c:pt idx="2">
                  <c:v>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(&lt;€1M)</c:v>
                  </c:pt>
                  <c:pt idx="1">
                    <c:v>Mid (€1M–€5M)</c:v>
                  </c:pt>
                  <c:pt idx="2">
                    <c:v>Large (&gt;€5M)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20.8</c:v>
                </c:pt>
                <c:pt idx="1">
                  <c:v>17</c:v>
                </c:pt>
                <c:pt idx="2">
                  <c:v>78.8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Community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(&lt;€1M)</c:v>
                  </c:pt>
                  <c:pt idx="1">
                    <c:v>Mid (€1M–€5M)</c:v>
                  </c:pt>
                  <c:pt idx="2">
                    <c:v>Large (&gt;€5M)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45.3</c:v>
                </c:pt>
                <c:pt idx="1">
                  <c:v>30.5</c:v>
                </c:pt>
                <c:pt idx="2">
                  <c:v>1.9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Government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(&lt;€1M)</c:v>
                  </c:pt>
                  <c:pt idx="1">
                    <c:v>Mid (€1M–€5M)</c:v>
                  </c:pt>
                  <c:pt idx="2">
                    <c:v>Large (&gt;€5M)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17.2</c:v>
                </c:pt>
                <c:pt idx="1">
                  <c:v>19.5</c:v>
                </c:pt>
                <c:pt idx="2">
                  <c:v>9.6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Capital</c:v>
                </c:pt>
              </c:strCache>
            </c:strRef>
          </c:tx>
          <c:spPr>
            <a:solidFill>
              <a:srgbClr val="8E7D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(&lt;€1M)</c:v>
                  </c:pt>
                  <c:pt idx="1">
                    <c:v>Mid (€1M–€5M)</c:v>
                  </c:pt>
                  <c:pt idx="2">
                    <c:v>Large (&gt;€5M)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16.1</c:v>
                </c:pt>
                <c:pt idx="1">
                  <c:v>9.3</c:v>
                </c:pt>
                <c:pt idx="2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3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3A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HHI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3A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Urgenda</c:v>
                  </c:pt>
                  <c:pt idx="1">
                    <c:v>Land van Ons</c:v>
                  </c:pt>
                  <c:pt idx="2">
                    <c:v>ROA</c:v>
                  </c:pt>
                  <c:pt idx="3">
                    <c:v>BD Grondbeheer</c:v>
                  </c:pt>
                  <c:pt idx="4">
                    <c:v>Herenboeren</c:v>
                  </c:pt>
                  <c:pt idx="5">
                    <c:v>Natuurmonumenten</c:v>
                  </c:pt>
                  <c:pt idx="6">
                    <c:v>Standaard Publ.</c:v>
                  </c:pt>
                  <c:pt idx="7">
                    <c:v>Voedselbosbouw NL</c:v>
                  </c:pt>
                  <c:pt idx="8">
                    <c:v>Justdiggit</c:v>
                  </c:pt>
                  <c:pt idx="9">
                    <c:v>Trees for All</c:v>
                  </c:pt>
                  <c:pt idx="10">
                    <c:v>Soil Association</c:v>
                  </c:pt>
                  <c:pt idx="11">
                    <c:v>Commonland</c:v>
                  </c:pt>
                  <c:pt idx="12">
                    <c:v>Stichting Lente Land</c:v>
                  </c:pt>
                  <c:pt idx="13">
                    <c:v>Foundation reNature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0.28</c:v>
                </c:pt>
                <c:pt idx="1">
                  <c:v>0.31</c:v>
                </c:pt>
                <c:pt idx="2">
                  <c:v>0.31</c:v>
                </c:pt>
                <c:pt idx="3">
                  <c:v>0.33</c:v>
                </c:pt>
                <c:pt idx="4">
                  <c:v>0.36</c:v>
                </c:pt>
                <c:pt idx="5">
                  <c:v>0.43</c:v>
                </c:pt>
                <c:pt idx="6">
                  <c:v>0.45</c:v>
                </c:pt>
                <c:pt idx="7">
                  <c:v>0.48</c:v>
                </c:pt>
                <c:pt idx="8">
                  <c:v>0.65</c:v>
                </c:pt>
                <c:pt idx="9">
                  <c:v>0.68</c:v>
                </c:pt>
                <c:pt idx="10">
                  <c:v>0.77</c:v>
                </c:pt>
                <c:pt idx="11">
                  <c:v>0.79</c:v>
                </c:pt>
                <c:pt idx="12">
                  <c:v>0.91</c:v>
                </c:pt>
                <c:pt idx="13">
                  <c:v>0.99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3A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3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Donation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Stage 1: Pilot (&lt;€1M)</c:v>
                  </c:pt>
                  <c:pt idx="1">
                    <c:v>Stage 2: Growth (€1M–€5M)</c:v>
                  </c:pt>
                  <c:pt idx="2">
                    <c:v>Stage 3: Scaled (&gt;€5M)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Stage 1: Pilot (&lt;€1M)</c:v>
                  </c:pt>
                  <c:pt idx="1">
                    <c:v>Stage 2: Growth (€1M–€5M)</c:v>
                  </c:pt>
                  <c:pt idx="2">
                    <c:v>Stage 3: Scaled (&gt;€5M)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</c:v>
                </c:pt>
                <c:pt idx="1">
                  <c:v>0.35</c:v>
                </c:pt>
                <c:pt idx="2">
                  <c:v>0.55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Community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Stage 1: Pilot (&lt;€1M)</c:v>
                  </c:pt>
                  <c:pt idx="1">
                    <c:v>Stage 2: Growth (€1M–€5M)</c:v>
                  </c:pt>
                  <c:pt idx="2">
                    <c:v>Stage 3: Scaled (&gt;€5M)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0.45</c:v>
                </c:pt>
                <c:pt idx="1">
                  <c:v>0.25</c:v>
                </c:pt>
                <c:pt idx="2">
                  <c:v>0.15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Government</c:v>
                </c:pt>
              </c:strCache>
            </c:strRef>
          </c:tx>
          <c:spPr>
            <a:solidFill>
              <a:srgbClr val="E9C46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Stage 1: Pilot (&lt;€1M)</c:v>
                  </c:pt>
                  <c:pt idx="1">
                    <c:v>Stage 2: Growth (€1M–€5M)</c:v>
                  </c:pt>
                  <c:pt idx="2">
                    <c:v>Stage 3: Scaled (&gt;€5M)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0.2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Capital</c:v>
                </c:pt>
              </c:strCache>
            </c:strRef>
          </c:tx>
          <c:spPr>
            <a:solidFill>
              <a:srgbClr val="8E7DB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Stage 1: Pilot (&lt;€1M)</c:v>
                  </c:pt>
                  <c:pt idx="1">
                    <c:v>Stage 2: Growth (€1M–€5M)</c:v>
                  </c:pt>
                  <c:pt idx="2">
                    <c:v>Stage 3: Scaled (&gt;€5M)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0.1</c:v>
                </c:pt>
                <c:pt idx="1">
                  <c:v>0.05</c:v>
                </c:pt>
                <c:pt idx="2">
                  <c:v>0.05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3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3A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97BC62">
              <a:alpha val="25000"/>
            </a:srgbClr>
          </a:solidFill>
          <a:ln w="12700">
            <a:solidFill>
              <a:srgbClr val="97BC6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BENCHMARK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Strategies of 14 Peer NGOs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inferences for RAAP!'s fundraising strategy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analyzed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42062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92608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source records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4297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€77.6M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21208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annual income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Project ·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can RAAP! develop effective and diversified fundraising strategies through storytelling, donor insights, and overcoming key challenges?"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73152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Built a SQLite database from public annual reports (2022-2024) of 14 NGOs in regenerative agriculture, nature restoration, and sustainable land use.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Wrote 13 SQL queries to answer specific analytical questions: total income, funding mix, concentration, dominance, channel coverage.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Used Python to execute the queries, export tabular results, and translate findings into strategic implications for RAAP!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annual reports to insight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3728" y="2377440"/>
            <a:ext cx="2560320" cy="301752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3728" y="2560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63728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6608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annual reports gathered from Standaard Publicatieplicht, ANBI registers, and NGO websites.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8368" y="2377440"/>
            <a:ext cx="2560320" cy="301752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8368" y="2560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398368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81248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lines categorized into 5 sources. EUR, USD, GBP standardized to euros.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3008" y="2377440"/>
            <a:ext cx="2560320" cy="301752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008" y="2560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233008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15888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SQLite database. Wrote 13 SQL queries answering one analytical question each.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67648" y="2377440"/>
            <a:ext cx="2560320" cy="301752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7648" y="2560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9067648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50528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runner exports each result as CSV. Findings mapped to RAAP!'s opportunities.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SQLite · SQL · Python (pandas) · Power BI for visualization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LANDSCAPE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income per NGO (€M)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peer NGOs sorted by 2023-2024 annual income — three distinct size bands emerge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94560"/>
          <a:ext cx="10972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LANDSCAPE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size bands, very different worlds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6568" y="2103120"/>
            <a:ext cx="3474720" cy="402336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6568" y="2103120"/>
            <a:ext cx="3474720" cy="137160"/>
          </a:xfrm>
          <a:prstGeom prst="rect">
            <a:avLst/>
          </a:prstGeom>
          <a:solidFill>
            <a:srgbClr val="97BC6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6568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6568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&lt;€1M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6568" y="3291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426568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0888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income: €1.9M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0888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€517K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088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RAAP!'s likely starting band. Community-rooted NGOs.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58488" y="2103120"/>
            <a:ext cx="3474720" cy="402336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8488" y="2103120"/>
            <a:ext cx="3474720" cy="13716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8488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58488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€1M – €5M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58488" y="3291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4358488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32808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income: €9.0M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2808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€1.7M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3280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Growth-stage NGOs activating multiple channels.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90408" y="2103120"/>
            <a:ext cx="3474720" cy="402336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0408" y="2103120"/>
            <a:ext cx="3474720" cy="137160"/>
          </a:xfrm>
          <a:prstGeom prst="rect">
            <a:avLst/>
          </a:prstGeom>
          <a:solidFill>
            <a:srgbClr val="1B3A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0408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90408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&gt;€5M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90408" y="3291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8000" dirty="0"/>
          </a:p>
        </p:txBody>
      </p:sp>
      <p:sp>
        <p:nvSpPr>
          <p:cNvPr id="28" name="Text 26"/>
          <p:cNvSpPr/>
          <p:nvPr/>
        </p:nvSpPr>
        <p:spPr>
          <a:xfrm>
            <a:off x="8290408" y="4434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64728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income: €66.8M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64728" y="5166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€12.9M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6472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NGOs — corporate and foundation-funded.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money comes from — pooled across all 14 NGOs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828800"/>
            <a:ext cx="5029200" cy="438912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0" y="2468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70.3%</a:t>
            </a:r>
            <a:endParaRPr lang="en-US" sz="8000" dirty="0"/>
          </a:p>
        </p:txBody>
      </p:sp>
      <p:sp>
        <p:nvSpPr>
          <p:cNvPr id="9" name="Text 6"/>
          <p:cNvSpPr/>
          <p:nvPr/>
        </p:nvSpPr>
        <p:spPr>
          <a:xfrm>
            <a:off x="685800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pooled income comes from the BUSINESS category — corporate sponsors, foundations, and commercial activities.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0" y="4937760"/>
            <a:ext cx="73152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5120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and government grants each contribute only ~11% of pooled income, despite appearing in 11 of 14 NGOs.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MIX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 mix per NGO (% share)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total income — the larger the NGO, the more dominant the business channel becomes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94560"/>
          <a:ext cx="10972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INFERENCE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mix shifts dramatically with size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scale: anchor on community engagement → activate donations + government → pivot to business at scale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2194560"/>
            <a:ext cx="4023360" cy="411480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PHASE TRANSITIONS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0" y="283464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Small → Mid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B3A1F"/>
                </a:solidFill>
              </a:rPr>
              <a:t>Donation grows from 0.6% to 23.7% — individual giving activates as brand awareness builds.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Mid → Large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B3A1F"/>
                </a:solidFill>
              </a:rPr>
              <a:t>Business jumps from 17.0% to 78.8% — corporate and foundation funding is what gets NGOs to scale.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</a:rPr>
              <a:t>Implication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B3A1F"/>
                </a:solidFill>
              </a:rPr>
              <a:t>RAAP! must build community engagement first, then deliberately pivot to business funding.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Diversification is harder than it sounds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Herfindahl-Hirschman Index per NGO (1.0 = single source · 0.20 = perfect 5-way split)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2194560"/>
            <a:ext cx="4023360" cy="4114800"/>
          </a:xfrm>
          <a:prstGeom prst="rect">
            <a:avLst/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SUMMARY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of 14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795528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are highly concentrated (HHI &gt; 0.50)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4572000"/>
            <a:ext cx="73152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TARGET FOR RAAP!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5120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aim for an even 5-way split. Target one anchor source (~50%) plus 2-3 secondary streams (~15-20% each) — what the diversification leaders actually do.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OPPORTUNITIES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RAAP!'s opportunities — backed by the data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621792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Mapped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from the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ANBI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(tax-deductible giving)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enabler — but donation averages 13.8% when used and is the dominant source for only 1 of 14 NGOs.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 Carbon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(US corporate buyers)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Aligns with the dominant scale channel (78.8% at large NGOs). Zero peers have this yet — first-mover opportunity.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Green Deal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subsidies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— appears in 11 of 14 NGOs at avg 21.8% share. Natuurmonumenten gets 51.6% from government.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organic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regenerative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3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Aligns with the dominant scale channel. RAAP!'s Marketing &amp; Distribution service is the right vehicle.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row: Voluntary Carbon Market is the highest-leverage opportunity — aligns with the proven scaling channel and no peer NGO has captured it yet.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funding mix for RAAP! by stage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from peer-NGO patterns — community-anchored start, business-anchored at scale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10972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CHANNELS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fundraising channels for RAAP!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largest single income lines observed across the 14 peer NGOs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Charitable activities &amp; paid services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Association: €21.6M from certifications and consulting. Requires building a commercial operation.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0" y="2423160"/>
            <a:ext cx="210312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2423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36392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36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090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grants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456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Commonland €8.4M, Justdiggit €3.8M. Stichting DOEN, IKEA Foundation, Goeie Grutten.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0" y="3227832"/>
            <a:ext cx="210312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3227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941064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410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63040" y="38953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corporate sponsorship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2611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Justdiggit €7.4M, Trees for All €6.9M from companies funding branded projects.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0" y="4032504"/>
            <a:ext cx="2103120" cy="411480"/>
          </a:xfrm>
          <a:prstGeom prst="rect">
            <a:avLst/>
          </a:prstGeom>
          <a:solidFill>
            <a:srgbClr val="2C5F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40325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745736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45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463040" y="47000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Postcode Loterij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657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Natuurmonumenten €3.6M, Commonland €1.1M. Selective; multi-year track record needed.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0" y="4837176"/>
            <a:ext cx="2103120" cy="411480"/>
          </a:xfrm>
          <a:prstGeom prst="rect">
            <a:avLst/>
          </a:prstGeom>
          <a:solidFill>
            <a:srgbClr val="E9C4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0" y="48371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550408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550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46304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donations + legacies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3040" y="5870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Association €2.3M, Justdiggit €1.9M. Long-tail channel that builds with brand.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01200" y="5641848"/>
            <a:ext cx="2103120" cy="411480"/>
          </a:xfrm>
          <a:prstGeom prst="rect">
            <a:avLst/>
          </a:prstGeom>
          <a:solidFill>
            <a:srgbClr val="E76F5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5641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RAAP! Fundraising Benchmark · 2025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RAAP! should do next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1168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on community engagement first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RAAP!'s starting size (&lt;€1M), peer NGOs anchor on community engagement — member fees, lease income, program services — at ~45% of income. ANBI status alone won't scale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01168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corporate / VCM bridge early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4069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 of large-NGO income comes from business. Begin foundation outreach (Stichting DOEN, IKEA Foundation) and develop the Voluntary Carbon Market product now — first-mover opportunity.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011680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Reframe "diversified" as one anchor + supporting streams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5394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Aiming for an even 5-way split is unrealistic — 6 of 14 peers are highly concentrated. Target one ~50% anchor + 2-3 supporting streams at 15-20% each.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queries, results, and findings doc available in the GitHub repository.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RAAP! Fundraising Benchmark — Inferences</dc:title>
  <dc:subject>PptxGenJS Presentation</dc:subject>
  <dc:creator>RAAP! Data Analytics Internship</dc:creator>
  <cp:lastModifiedBy>RAAP! Data Analytics Internship</cp:lastModifiedBy>
  <cp:revision>1</cp:revision>
  <dcterms:created xsi:type="dcterms:W3CDTF">2026-04-30T08:24:45Z</dcterms:created>
  <dcterms:modified xsi:type="dcterms:W3CDTF">2026-04-30T08:24:45Z</dcterms:modified>
</cp:coreProperties>
</file>